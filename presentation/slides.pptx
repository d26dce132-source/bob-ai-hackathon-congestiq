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68" r:id="rId4"/>
    <p:sldId id="259" r:id="rId5"/>
    <p:sldId id="260" r:id="rId6"/>
    <p:sldId id="267" r:id="rId7"/>
    <p:sldId id="265" r:id="rId8"/>
    <p:sldId id="261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773" autoAdjust="0"/>
  </p:normalViewPr>
  <p:slideViewPr>
    <p:cSldViewPr snapToGrid="0">
      <p:cViewPr varScale="1">
        <p:scale>
          <a:sx n="78" d="100"/>
          <a:sy n="78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E8DFC-92B6-4FCE-87A0-CFFA7BA6F21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771A7-8ED9-4C1F-9FAB-826C27D94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9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771A7-8ED9-4C1F-9FAB-826C27D94E0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112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604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38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836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095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45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604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78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3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18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113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6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9596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1430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619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768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564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309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5264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329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333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2343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5799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0945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145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3961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7616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0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7BA5E9C-EFCC-42D6-A2C0-DDA55F178EC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D32A5FD-C734-415E-9025-E529F7658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44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2CFE-A489-D388-571E-1AD19D0C6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457202"/>
            <a:ext cx="8074153" cy="166254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r>
              <a:rPr lang="en-IN" sz="2000" dirty="0" err="1"/>
              <a:t>CongestiQ</a:t>
            </a:r>
            <a:br>
              <a:rPr lang="en-IN" sz="2000" dirty="0"/>
            </a:br>
            <a:r>
              <a:rPr lang="en-IN" sz="2000" dirty="0"/>
              <a:t>AI-Powered Port Congestion Prediction &amp; Operations Optimizer</a:t>
            </a:r>
            <a:br>
              <a:rPr lang="en-IN" sz="2400" dirty="0"/>
            </a:br>
            <a:br>
              <a:rPr lang="en-US" sz="1600" dirty="0"/>
            </a:br>
            <a:br>
              <a:rPr lang="en-IN" sz="1600" dirty="0"/>
            </a:br>
            <a:r>
              <a:rPr lang="en-IN" sz="1600" dirty="0"/>
              <a:t>				 IBM Bob AI Hackathon 2026</a:t>
            </a:r>
          </a:p>
        </p:txBody>
      </p:sp>
      <p:pic>
        <p:nvPicPr>
          <p:cNvPr id="7" name="Picture 6" descr="Think 2026 On Demand Win the enterprise AI race | IBM">
            <a:extLst>
              <a:ext uri="{FF2B5EF4-FFF2-40B4-BE49-F238E27FC236}">
                <a16:creationId xmlns:a16="http://schemas.microsoft.com/office/drawing/2014/main" id="{48B536DB-0E1C-9883-E94D-4229FF3C0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355" y="457202"/>
            <a:ext cx="2514599" cy="16625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DF2F33-BB2E-6FCC-4D39-591E8767D1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912" b="70303"/>
          <a:stretch>
            <a:fillRect/>
          </a:stretch>
        </p:blipFill>
        <p:spPr>
          <a:xfrm>
            <a:off x="612647" y="2212257"/>
            <a:ext cx="11150364" cy="41885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8" name="Subtitle 37">
            <a:extLst>
              <a:ext uri="{FF2B5EF4-FFF2-40B4-BE49-F238E27FC236}">
                <a16:creationId xmlns:a16="http://schemas.microsoft.com/office/drawing/2014/main" id="{82945A29-B29C-8C24-DD88-F3B86996D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1394" y="6400798"/>
            <a:ext cx="6881457" cy="663086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Predict congestion. Optimize operations. Keep cargo moving.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0207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6D35D-A4DE-0968-C0D1-68DE1A7D9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6525908" cy="451375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lvl="0"/>
            <a:r>
              <a:rPr lang="en-IN" dirty="0"/>
              <a:t>Port operators manage hundreds of vessels with limited berth and crane capacity. </a:t>
            </a:r>
          </a:p>
          <a:p>
            <a:pPr lvl="0"/>
            <a:r>
              <a:rPr lang="en-IN" dirty="0"/>
              <a:t>Congestion is often identified only after vessel queues have already formed. </a:t>
            </a:r>
          </a:p>
          <a:p>
            <a:pPr lvl="0"/>
            <a:r>
              <a:rPr lang="en-IN" dirty="0"/>
              <a:t>Manual allocation of berths, cranes, and yard space makes proactive planning difficult. </a:t>
            </a:r>
          </a:p>
          <a:p>
            <a:pPr lvl="0"/>
            <a:r>
              <a:rPr lang="en-IN" dirty="0"/>
              <a:t>Delays can cause berth conflicts, inefficient resource utilization, and supply-chain disruption. </a:t>
            </a:r>
          </a:p>
          <a:p>
            <a:pPr lvl="0"/>
            <a:r>
              <a:rPr lang="en-IN" dirty="0"/>
              <a:t>Alternative routing and operational decisions may come too late to reduce congestion effectively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marL="0" lvl="0" indent="0">
              <a:buNone/>
            </a:pPr>
            <a:r>
              <a:rPr lang="en-IN" dirty="0"/>
              <a:t> </a:t>
            </a:r>
          </a:p>
          <a:p>
            <a:r>
              <a:rPr lang="en-IN" b="1" dirty="0"/>
              <a:t>Ports need a forward-looking system that predicts congestion and turns those predictions into actionable operational decisions.</a:t>
            </a:r>
            <a:endParaRPr lang="en-IN" dirty="0"/>
          </a:p>
        </p:txBody>
      </p:sp>
      <p:pic>
        <p:nvPicPr>
          <p:cNvPr id="5" name="Picture 4" descr="Beyond the Demo: Testing IBM Bob AI with COBOL, PL/I, Assembler, and ...">
            <a:extLst>
              <a:ext uri="{FF2B5EF4-FFF2-40B4-BE49-F238E27FC236}">
                <a16:creationId xmlns:a16="http://schemas.microsoft.com/office/drawing/2014/main" id="{9C4C597D-E15F-1291-DEBD-3B8881B26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43" r="15976"/>
          <a:stretch>
            <a:fillRect/>
          </a:stretch>
        </p:blipFill>
        <p:spPr>
          <a:xfrm>
            <a:off x="10183091" y="239542"/>
            <a:ext cx="1278082" cy="132948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83B6420-FF02-DB35-CB97-7C0A57BA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9061288" cy="97237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000" dirty="0"/>
              <a:t>Problem</a:t>
            </a:r>
            <a:endParaRPr lang="en-IN" sz="4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652CF5-3CC0-7BA0-D415-9AF3B2C161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817" r="51784" b="4394"/>
          <a:stretch>
            <a:fillRect/>
          </a:stretch>
        </p:blipFill>
        <p:spPr>
          <a:xfrm>
            <a:off x="7564582" y="1670346"/>
            <a:ext cx="3730336" cy="459278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6046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D77F-18C7-9D11-519D-2799D728C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9570443" cy="97237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Current 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50B75-68DF-B851-5172-59410D467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9570443" cy="451375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IN" sz="1600" b="1" dirty="0"/>
              <a:t>Unpredictable Port Congestion</a:t>
            </a:r>
            <a:r>
              <a:rPr lang="en-IN" sz="1600" dirty="0"/>
              <a:t> — Congestion can build rapidly and create long vessel queues. </a:t>
            </a:r>
          </a:p>
          <a:p>
            <a:pPr lvl="0"/>
            <a:r>
              <a:rPr lang="en-IN" sz="1600" b="1" dirty="0"/>
              <a:t>Manual Resource Allocation</a:t>
            </a:r>
            <a:r>
              <a:rPr lang="en-IN" sz="1600" dirty="0"/>
              <a:t> — Berths, cranes, and yard space must be coordinated across many vessels. </a:t>
            </a:r>
          </a:p>
          <a:p>
            <a:pPr lvl="0"/>
            <a:r>
              <a:rPr lang="en-IN" sz="1600" b="1" dirty="0"/>
              <a:t>Late Detection of Congestion</a:t>
            </a:r>
            <a:r>
              <a:rPr lang="en-IN" sz="1600" dirty="0"/>
              <a:t> — Operators may identify congestion only after queues have already formed. </a:t>
            </a:r>
          </a:p>
          <a:p>
            <a:pPr lvl="0"/>
            <a:r>
              <a:rPr lang="en-IN" sz="1600" b="1" dirty="0"/>
              <a:t>Vessel Delays &amp; Berth Conflicts</a:t>
            </a:r>
            <a:r>
              <a:rPr lang="en-IN" sz="1600" dirty="0"/>
              <a:t> — Poor coordination can increase waiting time and resource conflicts. </a:t>
            </a:r>
          </a:p>
          <a:p>
            <a:pPr lvl="0"/>
            <a:r>
              <a:rPr lang="en-IN" sz="1600" b="1" dirty="0"/>
              <a:t>Difficult Alternative Routing</a:t>
            </a:r>
            <a:r>
              <a:rPr lang="en-IN" sz="1600" dirty="0"/>
              <a:t> — Late congestion detection makes alternative routing decisions harder. </a:t>
            </a:r>
          </a:p>
          <a:p>
            <a:endParaRPr lang="en-IN" dirty="0"/>
          </a:p>
        </p:txBody>
      </p:sp>
      <p:pic>
        <p:nvPicPr>
          <p:cNvPr id="5" name="Picture 4" descr="Beyond the Demo: Testing IBM Bob AI with COBOL, PL/I, Assembler, and ...">
            <a:extLst>
              <a:ext uri="{FF2B5EF4-FFF2-40B4-BE49-F238E27FC236}">
                <a16:creationId xmlns:a16="http://schemas.microsoft.com/office/drawing/2014/main" id="{EC1E4765-E369-C899-EB02-B96333DCC1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3" r="15976"/>
          <a:stretch>
            <a:fillRect/>
          </a:stretch>
        </p:blipFill>
        <p:spPr>
          <a:xfrm>
            <a:off x="10183091" y="239542"/>
            <a:ext cx="1278082" cy="132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45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1CBE-CE54-091A-82D5-7283A58E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14649"/>
            <a:ext cx="8946988" cy="97237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4000" dirty="0"/>
              <a:t>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35774-BCD0-9700-CB8D-79C7DEFA4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6473953" cy="451375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IN" dirty="0"/>
              <a:t>Predict upcoming port congestion using vessel schedules and port capacity. </a:t>
            </a:r>
          </a:p>
          <a:p>
            <a:pPr lvl="0"/>
            <a:r>
              <a:rPr lang="en-IN" dirty="0"/>
              <a:t>Identify high-risk vessels and congestion hotspots. </a:t>
            </a:r>
          </a:p>
          <a:p>
            <a:pPr lvl="0"/>
            <a:r>
              <a:rPr lang="en-IN" dirty="0"/>
              <a:t>Optimize berth and crane assignments based on operational constraints. </a:t>
            </a:r>
          </a:p>
          <a:p>
            <a:pPr lvl="0"/>
            <a:r>
              <a:rPr lang="en-IN" dirty="0"/>
              <a:t>Recommend alternative operational actions for high-risk vessels. </a:t>
            </a:r>
          </a:p>
          <a:p>
            <a:pPr lvl="0"/>
            <a:r>
              <a:rPr lang="en-IN" dirty="0"/>
              <a:t>Plan a prioritized 72-hour operations plan for port supervisors. </a:t>
            </a:r>
          </a:p>
          <a:p>
            <a:pPr lvl="0"/>
            <a:r>
              <a:rPr lang="en-IN" dirty="0"/>
              <a:t>Provide all insights through a single React dashboard. 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 err="1"/>
              <a:t>CongestiQ</a:t>
            </a:r>
            <a:r>
              <a:rPr lang="en-IN" b="1" dirty="0"/>
              <a:t> transforms congestion prediction into proactive operational decision-making.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5F6BD-41A6-B341-7D43-F0483633D6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48" r="16842"/>
          <a:stretch>
            <a:fillRect/>
          </a:stretch>
        </p:blipFill>
        <p:spPr>
          <a:xfrm>
            <a:off x="10411691" y="149669"/>
            <a:ext cx="1226127" cy="1503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218631-FCFF-8130-48C4-D36C65BD20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357" t="20411" b="4091"/>
          <a:stretch>
            <a:fillRect/>
          </a:stretch>
        </p:blipFill>
        <p:spPr>
          <a:xfrm>
            <a:off x="7357979" y="1709862"/>
            <a:ext cx="4403315" cy="451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8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72BD06D-C5A8-B2D7-781A-143D1430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823" y="743745"/>
            <a:ext cx="3657600" cy="78773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How it works 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6921371-ABC6-C703-F8D2-B04706152B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1923527"/>
            <a:ext cx="3657600" cy="156817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 err="1"/>
              <a:t>CongestiQ</a:t>
            </a:r>
            <a:r>
              <a:rPr lang="en-IN" dirty="0"/>
              <a:t> transforms vessel and port resource data into congestion predictions, operational optimization, and actionable 72-hour planning through a single integrated dashboard.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15F20D-3C65-272A-8D85-B47B5106C8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930973" y="0"/>
            <a:ext cx="5225142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F47513-3C0C-77BC-5B37-A36044DC0879}"/>
              </a:ext>
            </a:extLst>
          </p:cNvPr>
          <p:cNvSpPr txBox="1"/>
          <p:nvPr/>
        </p:nvSpPr>
        <p:spPr>
          <a:xfrm>
            <a:off x="615823" y="3736258"/>
            <a:ext cx="365760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🚢 Vessel Schedules</a:t>
            </a:r>
            <a:br>
              <a:rPr lang="en-IN" dirty="0"/>
            </a:br>
            <a:r>
              <a:rPr lang="en-IN" dirty="0"/>
              <a:t>⚓ Port Resources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🧠 Congestion Prediction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📊 Risk + Hotspots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⚙️ Optimization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📋 72-Hour Plan</a:t>
            </a:r>
          </a:p>
        </p:txBody>
      </p:sp>
    </p:spTree>
    <p:extLst>
      <p:ext uri="{BB962C8B-B14F-4D97-AF65-F5344CB8AC3E}">
        <p14:creationId xmlns:p14="http://schemas.microsoft.com/office/powerpoint/2010/main" val="129595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23EC4-CAA1-0F67-14C5-74F386AE1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6463561" cy="6947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Technical Approach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E80C2E-D82E-D045-6269-1DB294EC2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2109771" cy="463348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Tech Stack Used </a:t>
            </a:r>
          </a:p>
          <a:p>
            <a:pPr lvl="0"/>
            <a:r>
              <a:rPr lang="en-IN" dirty="0"/>
              <a:t>React + Vite </a:t>
            </a:r>
          </a:p>
          <a:p>
            <a:pPr lvl="0"/>
            <a:r>
              <a:rPr lang="en-IN" dirty="0"/>
              <a:t>Python </a:t>
            </a:r>
          </a:p>
          <a:p>
            <a:pPr lvl="0"/>
            <a:r>
              <a:rPr lang="en-IN" dirty="0" err="1"/>
              <a:t>FastAPI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SQLite / PostgreSQL </a:t>
            </a:r>
          </a:p>
          <a:p>
            <a:pPr lvl="0"/>
            <a:r>
              <a:rPr lang="en-IN" dirty="0"/>
              <a:t>REST APIs </a:t>
            </a:r>
          </a:p>
          <a:p>
            <a:pPr lvl="0"/>
            <a:r>
              <a:rPr lang="en-IN" dirty="0"/>
              <a:t>JavaScript </a:t>
            </a:r>
          </a:p>
          <a:p>
            <a:pPr lvl="0"/>
            <a:r>
              <a:rPr lang="en-IN" dirty="0"/>
              <a:t>IBM Bob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F3F6A5-739E-40A8-5011-94EF292B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48" r="16842"/>
          <a:stretch>
            <a:fillRect/>
          </a:stretch>
        </p:blipFill>
        <p:spPr>
          <a:xfrm>
            <a:off x="10536382" y="34837"/>
            <a:ext cx="1226127" cy="13286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4A861A-AE53-670A-8A71-7909D75198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63" t="11307" r="199" b="12555"/>
          <a:stretch>
            <a:fillRect/>
          </a:stretch>
        </p:blipFill>
        <p:spPr>
          <a:xfrm>
            <a:off x="3220232" y="1610591"/>
            <a:ext cx="8698141" cy="494719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06172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C3D2-1F81-AC40-0DA6-1D3791B9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762" y="106966"/>
            <a:ext cx="6582878" cy="75827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/>
              <a:t>Live Application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B3DBC3-1D98-26F8-C472-7977DF520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9285" y="1153608"/>
            <a:ext cx="6676354" cy="30352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8434C3-3995-376A-2620-7FA1AEE242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48" r="16842"/>
          <a:stretch>
            <a:fillRect/>
          </a:stretch>
        </p:blipFill>
        <p:spPr>
          <a:xfrm>
            <a:off x="10411691" y="149670"/>
            <a:ext cx="1226127" cy="1328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974D9B-304E-F9BA-0774-D4A75FE6F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767" y="4307818"/>
            <a:ext cx="5060372" cy="24791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F0DFA5-5C4C-4EDF-C4DC-939D88064B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02" y="4307818"/>
            <a:ext cx="5486400" cy="24432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71575A-3FDD-E810-E2D0-B3C93AE8307A}"/>
              </a:ext>
            </a:extLst>
          </p:cNvPr>
          <p:cNvSpPr txBox="1"/>
          <p:nvPr/>
        </p:nvSpPr>
        <p:spPr>
          <a:xfrm>
            <a:off x="9050664" y="2088517"/>
            <a:ext cx="34461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Live Dashboard</a:t>
            </a:r>
            <a:br>
              <a:rPr lang="en-IN" dirty="0"/>
            </a:br>
            <a:r>
              <a:rPr lang="en-IN" b="1" dirty="0"/>
              <a:t>Congestion Prediction</a:t>
            </a:r>
            <a:br>
              <a:rPr lang="en-IN" dirty="0"/>
            </a:br>
            <a:r>
              <a:rPr lang="en-IN" b="1" dirty="0"/>
              <a:t>72-Hour Operations Plan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56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EBEA15-33A9-6089-2473-CEFDAB1086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48" r="16842"/>
          <a:stretch>
            <a:fillRect/>
          </a:stretch>
        </p:blipFill>
        <p:spPr>
          <a:xfrm>
            <a:off x="10411691" y="149669"/>
            <a:ext cx="1226127" cy="1503807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ADB8EA0D-D4B9-6C8C-FEAD-197F178F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018" y="717755"/>
            <a:ext cx="6224155" cy="76926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IBM Bob Integration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28C29-266A-9F8E-E70B-7436322BA6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98" t="17778" r="43791" b="15842"/>
          <a:stretch>
            <a:fillRect/>
          </a:stretch>
        </p:blipFill>
        <p:spPr>
          <a:xfrm>
            <a:off x="4985389" y="1756714"/>
            <a:ext cx="2791929" cy="45523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AB0325-D59E-FFB3-5A93-B160747DDB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634" r="65976" b="12975"/>
          <a:stretch>
            <a:fillRect/>
          </a:stretch>
        </p:blipFill>
        <p:spPr>
          <a:xfrm>
            <a:off x="268710" y="1653476"/>
            <a:ext cx="4145974" cy="4758813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D3CA72E-5019-51D9-4DE7-6C31B193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2786" y="1858297"/>
            <a:ext cx="3956303" cy="142547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IN" sz="1600" b="1" dirty="0"/>
              <a:t>“With the help of IBM Bob, we turned our ideas into a working solution — faster, smarter, and more efficiently.”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42174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DA398-AB77-D9E7-1D29-A8757422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535" y="512064"/>
            <a:ext cx="6037006" cy="9692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/>
              <a:t>  Impact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3A261-F9D6-F7DD-DBB5-AF028A5E85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6"/>
            <a:ext cx="5074920" cy="277754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b="1" dirty="0"/>
              <a:t>Expected Impact</a:t>
            </a:r>
          </a:p>
          <a:p>
            <a:pPr lvl="0"/>
            <a:r>
              <a:rPr lang="en-IN" dirty="0"/>
              <a:t>Earlier identification of congestion risks </a:t>
            </a:r>
          </a:p>
          <a:p>
            <a:pPr lvl="0"/>
            <a:r>
              <a:rPr lang="en-IN" dirty="0"/>
              <a:t>Better berth and crane utilization </a:t>
            </a:r>
          </a:p>
          <a:p>
            <a:pPr lvl="0"/>
            <a:r>
              <a:rPr lang="en-IN" dirty="0"/>
              <a:t>Faster operational decision-making </a:t>
            </a:r>
          </a:p>
          <a:p>
            <a:pPr lvl="0"/>
            <a:r>
              <a:rPr lang="en-IN" dirty="0"/>
              <a:t>Reduced vessel-delay risk </a:t>
            </a:r>
          </a:p>
          <a:p>
            <a:pPr lvl="0"/>
            <a:r>
              <a:rPr lang="en-IN" dirty="0"/>
              <a:t>Clearer prioritization of near-term actions </a:t>
            </a:r>
          </a:p>
          <a:p>
            <a:pPr lvl="0"/>
            <a:r>
              <a:rPr lang="en-IN" dirty="0"/>
              <a:t>Improved visibility into upcoming port congestion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02131-BDE0-A387-670E-3F7BABA0F66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277754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b="1" dirty="0"/>
              <a:t>Future Scope</a:t>
            </a:r>
          </a:p>
          <a:p>
            <a:pPr lvl="0"/>
            <a:r>
              <a:rPr lang="en-IN" dirty="0"/>
              <a:t>Integrate live AIS and vessel schedule data </a:t>
            </a:r>
          </a:p>
          <a:p>
            <a:pPr lvl="0"/>
            <a:r>
              <a:rPr lang="en-IN" dirty="0"/>
              <a:t>Connect to real-time berth and crane availability </a:t>
            </a:r>
          </a:p>
          <a:p>
            <a:pPr lvl="0"/>
            <a:r>
              <a:rPr lang="en-IN" dirty="0"/>
              <a:t>Use historical port data for improved prediction </a:t>
            </a:r>
          </a:p>
          <a:p>
            <a:pPr lvl="0"/>
            <a:r>
              <a:rPr lang="en-IN" dirty="0"/>
              <a:t>Add real-time operational alerts </a:t>
            </a:r>
          </a:p>
          <a:p>
            <a:pPr lvl="0"/>
            <a:r>
              <a:rPr lang="en-IN" dirty="0"/>
              <a:t>Add authentication and role-based access </a:t>
            </a:r>
          </a:p>
          <a:p>
            <a:pPr lvl="0"/>
            <a:r>
              <a:rPr lang="en-IN" dirty="0"/>
              <a:t>Extend to multi-port optimization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51DB4-9776-2349-4A0E-5290DE8EA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26" t="67121" r="50000" b="7467"/>
          <a:stretch>
            <a:fillRect/>
          </a:stretch>
        </p:blipFill>
        <p:spPr>
          <a:xfrm>
            <a:off x="332509" y="4864343"/>
            <a:ext cx="3364201" cy="1742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7C1C0B-E9FD-9A73-C606-2763B8617A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60" t="65756" r="26186" b="8831"/>
          <a:stretch>
            <a:fillRect/>
          </a:stretch>
        </p:blipFill>
        <p:spPr>
          <a:xfrm>
            <a:off x="4086082" y="4864344"/>
            <a:ext cx="3145992" cy="17427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5D682A-7A88-5238-300D-6254CE5A2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63" t="28031" b="39651"/>
          <a:stretch>
            <a:fillRect/>
          </a:stretch>
        </p:blipFill>
        <p:spPr>
          <a:xfrm>
            <a:off x="7583951" y="4864343"/>
            <a:ext cx="4147610" cy="17427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26D588-4DFD-00BD-B42D-CB25C1E8D0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48" r="16842"/>
          <a:stretch>
            <a:fillRect/>
          </a:stretch>
        </p:blipFill>
        <p:spPr>
          <a:xfrm>
            <a:off x="10411691" y="149669"/>
            <a:ext cx="1226127" cy="150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3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9069-58CB-347B-F2AC-88BCDAD52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A16AE-CE48-C59F-25B2-51D505F00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8991"/>
            <a:ext cx="12192000" cy="709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42349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282</TotalTime>
  <Words>452</Words>
  <Application>Microsoft Office PowerPoint</Application>
  <PresentationFormat>Widescreen</PresentationFormat>
  <Paragraphs>60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Neue Haas Grotesk Text Pro</vt:lpstr>
      <vt:lpstr>Helena</vt:lpstr>
      <vt:lpstr>     CongestiQ AI-Powered Port Congestion Prediction &amp; Operations Optimizer        IBM Bob AI Hackathon 2026</vt:lpstr>
      <vt:lpstr>Problem</vt:lpstr>
      <vt:lpstr>Current Challenges</vt:lpstr>
      <vt:lpstr>Solution</vt:lpstr>
      <vt:lpstr>How it works  </vt:lpstr>
      <vt:lpstr>Technical Approach</vt:lpstr>
      <vt:lpstr>Live Application</vt:lpstr>
      <vt:lpstr>IBM Bob Integration</vt:lpstr>
      <vt:lpstr>  Impact &amp; Benefits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L. Rathi</dc:creator>
  <cp:lastModifiedBy>Divya L. Rathi</cp:lastModifiedBy>
  <cp:revision>26</cp:revision>
  <dcterms:created xsi:type="dcterms:W3CDTF">2026-09-14T06:47:33Z</dcterms:created>
  <dcterms:modified xsi:type="dcterms:W3CDTF">2026-09-15T09:36:55Z</dcterms:modified>
</cp:coreProperties>
</file>